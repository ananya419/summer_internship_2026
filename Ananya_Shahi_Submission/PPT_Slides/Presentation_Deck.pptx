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B1D3A"/>
                </a:solidFill>
              </a:defRPr>
            </a:pPr>
            <a:r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I -- Bluestock Fintech</a:t>
            </a:r>
          </a:p>
          <a:p>
            <a:r>
              <a:t>Author: Ananya Shahi</a:t>
            </a:r>
          </a:p>
          <a:p>
            <a:r>
              <a:t>Role: Data Analyst Intern</a:t>
            </a:r>
          </a:p>
          <a:p>
            <a:r>
              <a:t>Date: 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Build a Python-based end-to-end ETL pipeline.</a:t>
            </a:r>
          </a:p>
          <a:p>
            <a:pPr>
              <a:defRPr sz="1800"/>
            </a:pPr>
            <a:r>
              <a:t>Construct a normalized SQL database holding scheme history, investor logs, and risk metrics.</a:t>
            </a:r>
          </a:p>
          <a:p>
            <a:pPr>
              <a:defRPr sz="1800"/>
            </a:pPr>
            <a:r>
              <a:t>Implement Value at Risk (VaR), CVaR, and Sector Concentration (HHI Index) algorithms.</a:t>
            </a:r>
          </a:p>
          <a:p>
            <a:pPr>
              <a:defRPr sz="1800"/>
            </a:pPr>
            <a:r>
              <a:t>Develop a composite scorecard system to identify recommended schemes.</a:t>
            </a:r>
          </a:p>
          <a:p>
            <a:pPr>
              <a:defRPr sz="1800"/>
            </a:pPr>
            <a:r>
              <a:t>Deploy an interactive web-based dashboard (Streamlit) for data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ETL Layer: Pandas for handling missing daily records, reindexing dates, and data validation.</a:t>
            </a:r>
          </a:p>
          <a:p>
            <a:pPr>
              <a:defRPr sz="1800"/>
            </a:pPr>
            <a:r>
              <a:t>Database Engine: SQLite (bluestock_mf.db) running a 6-table Star Schema.</a:t>
            </a:r>
          </a:p>
          <a:p>
            <a:pPr>
              <a:defRPr sz="1800"/>
            </a:pPr>
            <a:r>
              <a:t>Analytics Engine: Automated returns compounding (CAGR), Sharpe ratios, and sector concentration indices.</a:t>
            </a:r>
          </a:p>
          <a:p>
            <a:pPr>
              <a:defRPr sz="1800"/>
            </a:pPr>
            <a:r>
              <a:t>UI Layer: Streamlit (Python) + Plotly for interactive web visualizations.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Database Design (Star Schema)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dim_fund: Master table containing fund names, expense ratios, plans, risk classifications.</a:t>
            </a:r>
          </a:p>
          <a:p>
            <a:pPr>
              <a:defRPr sz="1800"/>
            </a:pPr>
            <a:r>
              <a:t>fact_nav: Net asset value history log (64,320 rows).</a:t>
            </a:r>
          </a:p>
          <a:p>
            <a:pPr>
              <a:defRPr sz="1800"/>
            </a:pPr>
            <a:r>
              <a:t>fact_transactions: Investor details (~32,000 processed rows).</a:t>
            </a:r>
          </a:p>
          <a:p>
            <a:pPr>
              <a:defRPr sz="1800"/>
            </a:pPr>
            <a:r>
              <a:t>fact_performance: Trailing return percentages and calculated ratios.</a:t>
            </a:r>
          </a:p>
          <a:p>
            <a:pPr>
              <a:defRPr sz="1800"/>
            </a:pPr>
            <a:r>
              <a:t>fact_portfolio: Holding weights per stock.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Data Ingestion (ETL)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Standardized transaction inputs (validating transaction types).</a:t>
            </a:r>
          </a:p>
          <a:p>
            <a:pPr>
              <a:defRPr sz="1800"/>
            </a:pPr>
            <a:r>
              <a:t>Implemented forward-fill (ffill()) logic for scheme NAVs on weekends and public market holidays.</a:t>
            </a:r>
          </a:p>
          <a:p>
            <a:pPr>
              <a:defRPr sz="1800"/>
            </a:pPr>
            <a:r>
              <a:t>Removed duplicates and ensured data integrity across all 10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Performance Scorecard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Score rankings are computed using a weighted composite formula:</a:t>
            </a:r>
          </a:p>
          <a:p>
            <a:pPr>
              <a:defRPr sz="1800"/>
            </a:pPr>
            <a:r>
              <a:t>3-Year Trailing returns (CAGR): 30% Weight</a:t>
            </a:r>
          </a:p>
          <a:p>
            <a:pPr>
              <a:defRPr sz="1800"/>
            </a:pPr>
            <a:r>
              <a:t>Sharpe Ratio (Risk-Adjusted Return): 25% Weight</a:t>
            </a:r>
          </a:p>
          <a:p>
            <a:pPr>
              <a:defRPr sz="1800"/>
            </a:pPr>
            <a:r>
              <a:t>Alpha (Performance relative to benchmark): 20% Weight</a:t>
            </a:r>
          </a:p>
          <a:p>
            <a:pPr>
              <a:defRPr sz="1800"/>
            </a:pPr>
            <a:r>
              <a:t>Expense Ratio (Lower cost is better): 15% Weight</a:t>
            </a:r>
          </a:p>
          <a:p>
            <a:pPr>
              <a:defRPr sz="1800"/>
            </a:pPr>
            <a:r>
              <a:t>Max Drawdown (Downside risk): 10% Weight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Top 5 Recommended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Ranks calculated using the weighted composite score:</a:t>
            </a:r>
          </a:p>
          <a:p>
            <a:pPr>
              <a:defRPr sz="1800"/>
            </a:pPr>
            <a:r>
              <a:t>1. Kotak Flexicap Fund - Regular - Growth (Score: 0.7175)</a:t>
            </a:r>
          </a:p>
          <a:p>
            <a:pPr>
              <a:defRPr sz="1800"/>
            </a:pPr>
            <a:r>
              <a:t>2. SBI Small Cap Fund - Regular Plan - Growth (Score: 0.7063)</a:t>
            </a:r>
          </a:p>
          <a:p>
            <a:pPr>
              <a:defRPr sz="1800"/>
            </a:pPr>
            <a:r>
              <a:t>3. ICICI Pru Liquid Fund - Regular - Growth (Score: 0.7050)</a:t>
            </a:r>
          </a:p>
          <a:p>
            <a:pPr>
              <a:defRPr sz="1800"/>
            </a:pPr>
            <a:r>
              <a:t>4. HDFC Short Term Debt Fund - Regular - Growth (Score: 0.7025)</a:t>
            </a:r>
          </a:p>
          <a:p>
            <a:pPr>
              <a:defRPr sz="1800"/>
            </a:pPr>
            <a:r>
              <a:t>5. Kotak Emerging Equity Fund - Regular - Growth (Score: 0.6825)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Trailing Returns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Liquid Debt funds showed steady, low-volatility returns.</a:t>
            </a:r>
          </a:p>
          <a:p>
            <a:pPr>
              <a:defRPr sz="1800"/>
            </a:pPr>
            <a:r>
              <a:t>Flexicap and Small-cap equity schemes dominated the 3-Year and 5-Year CAGR.</a:t>
            </a:r>
          </a:p>
          <a:p>
            <a:pPr>
              <a:defRPr sz="1800"/>
            </a:pPr>
            <a:r>
              <a:t>Kotak Flexicap Fund achieved a composite rank 1 owing to high Sharpe and low expense 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Downside Risk Assessment (Value at Risk)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Calculated 95% Historical Daily Value at Risk (VaR) and CVaR for each scheme.</a:t>
            </a:r>
          </a:p>
          <a:p>
            <a:pPr>
              <a:defRPr sz="1800"/>
            </a:pPr>
            <a:r>
              <a:t>High-beta equity funds showed 95% Daily VaR limits between -1.5% to -2.4%.</a:t>
            </a:r>
          </a:p>
          <a:p>
            <a:pPr>
              <a:defRPr sz="1800"/>
            </a:pPr>
            <a:r>
              <a:t>Low-risk debt schemes maintained daily VaR limits below -0.4%, proving safe liquidity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Portfolio Sector HHI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HHI &lt; 1500 (Highly Diversified): Most mutual funds evaluated scored around 1200-1400, indicating high sector diversification.</a:t>
            </a:r>
          </a:p>
          <a:p>
            <a:pPr>
              <a:defRPr sz="1800"/>
            </a:pPr>
            <a:r>
              <a:t>HHI &gt; 2000 (Moderately Concentrated): Specific mid-cap schemes registered higher concentrations inside Finance and IT sectors.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Interactive Streamlit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Built a Python Streamlit app (src/app.py) for live visualizations.</a:t>
            </a:r>
          </a:p>
          <a:p>
            <a:pPr>
              <a:defRPr sz="1800"/>
            </a:pPr>
            <a:r>
              <a:t>Features interactive KPI metrics cards, risk vs. return scatter plots, state-wise investor volume bars, and sector pie charts.</a:t>
            </a:r>
          </a:p>
          <a:p>
            <a:pPr>
              <a:defRPr sz="1800"/>
            </a:pPr>
            <a:r>
              <a:t>Equipped with dynamic sidebar filters for Fund House, Category, and Plan types.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D3A"/>
                </a:solidFill>
              </a:defRPr>
            </a:pPr>
            <a:r>
              <a:t>Project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Developed a clean, automated database architecture.</a:t>
            </a:r>
          </a:p>
          <a:p>
            <a:pPr>
              <a:defRPr sz="1800"/>
            </a:pPr>
            <a:r>
              <a:t>Integrated mathematical return-risk scorings to support logical fund recommendation decisions.</a:t>
            </a:r>
          </a:p>
          <a:p>
            <a:pPr>
              <a:defRPr sz="1800"/>
            </a:pPr>
            <a:r>
              <a:t>Created visual, interactive dashboards for stakeholders.</a:t>
            </a:r>
          </a:p>
          <a:p>
            <a:pPr>
              <a:defRPr sz="1800"/>
            </a:pPr>
            <a:r>
              <a:t>Codebase is fully executable with clean comments and version-controlled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